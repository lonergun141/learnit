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line: everyone saves videos and articles to learn from later; they rot in bookmarks. LearnIT turns a saved link into a study guide, briefing, and quiz — by topic, not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here. Everyone assumed AI would gut online courses. Instead Coursera became the first learning platform inside ChatGPT, reaching 800M weekly users. AI is the tailwind. Set up the turn: but we still consume it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turn: we can learn anything, but passive watching isn't learning — you have to test yourself. Three failures: forgotten, scattered, no self-testing. Land the 'here enters LearnIT'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idea. Say it plainly: topic, not link. The three artifacts are what you get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five stages. Emphasize the browser-closed durability — it's what makes it real, not a toy.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non-negotiables, all built and tested. Don't read them verbatim — highlight capture-3-ways and topic-level materials.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money-shot slide. Cut to the live app here. Lead with the Guide/Briefing/Quiz payoff on a pre-built topic; never wait on live generation. Judges can scan the QR to open it on their own phones.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five-step journey mirrors the app's own onboarding. Primary goal = a saved link becomes studyable topic material.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one-slide architecture. Judges love the 'no key in the browser' and 'fails closed' points — they signal real engineering.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read every chip. Point at the shape: modern Next.js front end, Supabase does data+auth+jobs, three AI/source APIs, and it's actually tested.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'live'. The 0 service-role keys stat is a real security signal — call it out. Roadmap shows you know what's next without overpromising.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 the benefit story: what the learner feels vs. what engineers respect. Close the loop back to 'topic, not link'.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tagline. Point them to the live URL and the bot. Invite them to try it on their own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A29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· TEAMPURA · ABBA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985455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220" kern="0" dirty="0">
                <a:solidFill>
                  <a:srgbClr val="A29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HACKATHON · 09.04.2026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spc="100" kern="0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pPr algn="l" indent="0" marL="0">
              <a:buNone/>
            </a:pPr>
            <a:r>
              <a:rPr lang="en-US" sz="13000" b="1" spc="100" kern="0" dirty="0">
                <a:solidFill>
                  <a:srgbClr val="C3E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endParaRPr lang="en-US" sz="1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E7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a link — get back a </a:t>
            </a:r>
            <a:pPr algn="l" indent="0" marL="0">
              <a:lnSpc>
                <a:spcPts val="3000"/>
              </a:lnSpc>
              <a:buNone/>
            </a:pPr>
            <a:r>
              <a:rPr lang="en-US" sz="2500" i="1" dirty="0">
                <a:solidFill>
                  <a:srgbClr val="C3ED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guide, a briefing, and a quiz</a:t>
            </a:r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E7E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800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2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by topic, not by link.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806440"/>
            <a:ext cx="11094415" cy="0"/>
          </a:xfrm>
          <a:prstGeom prst="line">
            <a:avLst/>
          </a:prstGeom>
          <a:noFill/>
          <a:ln w="9525">
            <a:solidFill>
              <a:srgbClr val="423D3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60" kern="0" dirty="0">
                <a:solidFill>
                  <a:srgbClr val="E7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LEARNIT-MAUVE.VERCEL.APP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071055" y="5989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60" kern="0" dirty="0">
                <a:solidFill>
                  <a:srgbClr val="E7E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@LEARNIT_TEAMPURA_BOT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40" kern="0" dirty="0">
                <a:solidFill>
                  <a:srgbClr val="746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985455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200" kern="0" dirty="0">
                <a:solidFill>
                  <a:srgbClr val="A29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WHY NOW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985455" y="713232"/>
            <a:ext cx="3657600" cy="0"/>
          </a:xfrm>
          <a:prstGeom prst="line">
            <a:avLst/>
          </a:prstGeom>
          <a:noFill/>
          <a:ln w="9525">
            <a:solidFill>
              <a:srgbClr val="423D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C3ED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ASSUMPTION, RECLAIMED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thought AI would kill online learning. </a:t>
            </a:r>
            <a:pPr algn="l" indent="0" marL="0">
              <a:lnSpc>
                <a:spcPts val="3360"/>
              </a:lnSpc>
              <a:buNone/>
            </a:pPr>
            <a:r>
              <a:rPr lang="en-US" sz="3200" b="1" i="1" dirty="0">
                <a:solidFill>
                  <a:srgbClr val="C3ED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opposite happened.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E7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ChatGPT, the platforms that leaned into AI didn't die — they surged. Coursera became the first online learning platform embedded directly inside ChatGPT, putting its catalog in front of the chatbot's 800M weekly users.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3454298" cy="1554480"/>
          </a:xfrm>
          <a:prstGeom prst="roundRect">
            <a:avLst>
              <a:gd name="adj" fmla="val 5294"/>
            </a:avLst>
          </a:prstGeom>
          <a:solidFill>
            <a:srgbClr val="262322"/>
          </a:solidFill>
          <a:ln w="12700">
            <a:solidFill>
              <a:srgbClr val="423D3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822192"/>
            <a:ext cx="32714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3E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183M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590288"/>
            <a:ext cx="2997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2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Coursera learners (Jun 2025)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68698" y="3657600"/>
            <a:ext cx="3454298" cy="1554480"/>
          </a:xfrm>
          <a:prstGeom prst="roundRect">
            <a:avLst>
              <a:gd name="adj" fmla="val 5294"/>
            </a:avLst>
          </a:prstGeom>
          <a:solidFill>
            <a:srgbClr val="262322"/>
          </a:solidFill>
          <a:ln w="12700">
            <a:solidFill>
              <a:srgbClr val="423D3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60138" y="3822192"/>
            <a:ext cx="32714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3E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1st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4597298" y="4590288"/>
            <a:ext cx="2997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2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platform inside ChatGPT (Oct 2025)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88757" y="3657600"/>
            <a:ext cx="3454298" cy="1554480"/>
          </a:xfrm>
          <a:prstGeom prst="roundRect">
            <a:avLst>
              <a:gd name="adj" fmla="val 5294"/>
            </a:avLst>
          </a:prstGeom>
          <a:solidFill>
            <a:srgbClr val="262322"/>
          </a:solidFill>
          <a:ln w="12700">
            <a:solidFill>
              <a:srgbClr val="423D3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80197" y="3822192"/>
            <a:ext cx="32714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3E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800M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8417357" y="4590288"/>
            <a:ext cx="2997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2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ChatGPT users reached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5321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C3ED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is the tailwind, not the threat. </a:t>
            </a:r>
            <a:pPr algn="l" indent="0" marL="0">
              <a:buNone/>
            </a:pPr>
            <a:r>
              <a:rPr lang="en-US" sz="1500" dirty="0">
                <a:solidFill>
                  <a:srgbClr val="E7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web + AI is at our fingertips — we can learn anything.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40" kern="0" dirty="0">
                <a:solidFill>
                  <a:srgbClr val="746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INVESTING.COM — COURSERA BECOMES FIRST LEARNING PLATFORM INTEGRATED INTO CHATGPT, OCT 2025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40" kern="0" dirty="0">
                <a:solidFill>
                  <a:srgbClr val="746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985455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200" kern="0" dirty="0">
                <a:solidFill>
                  <a:srgbClr val="A29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PROBLEM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985455" y="713232"/>
            <a:ext cx="3657600" cy="0"/>
          </a:xfrm>
          <a:prstGeom prst="line">
            <a:avLst/>
          </a:prstGeom>
          <a:noFill/>
          <a:ln w="9525">
            <a:solidFill>
              <a:srgbClr val="423D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C3ED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watching isn't </a:t>
            </a:r>
            <a:pPr algn="l" indent="0" marL="0">
              <a:lnSpc>
                <a:spcPts val="4200"/>
              </a:lnSpc>
              <a:buNone/>
            </a:pPr>
            <a:r>
              <a:rPr lang="en-US" sz="4000" b="1" i="1" dirty="0">
                <a:solidFill>
                  <a:srgbClr val="C3ED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</a:t>
            </a:r>
            <a:pPr algn="l"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688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A2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reach any lesson on earth — and still not learn it. Passive watching doesn't stick; retention needs active recall.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3454298" cy="2514600"/>
          </a:xfrm>
          <a:prstGeom prst="roundRect">
            <a:avLst>
              <a:gd name="adj" fmla="val 3273"/>
            </a:avLst>
          </a:prstGeom>
          <a:solidFill>
            <a:srgbClr val="1E1B1A"/>
          </a:solidFill>
          <a:ln w="12700">
            <a:solidFill>
              <a:srgbClr val="423D3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3474720"/>
            <a:ext cx="502920" cy="502920"/>
          </a:xfrm>
          <a:prstGeom prst="ellipse">
            <a:avLst/>
          </a:prstGeom>
          <a:solidFill>
            <a:srgbClr val="232C1A"/>
          </a:solidFill>
          <a:ln w="12700">
            <a:solidFill>
              <a:srgbClr val="C3EDA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3ED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4114800"/>
            <a:ext cx="28690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Watched, not retained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4590288"/>
            <a:ext cx="28690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2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watch a video, feel productive, and forget most of it within days. Consuming is not the same as knowing.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68698" y="3200400"/>
            <a:ext cx="3454298" cy="2514600"/>
          </a:xfrm>
          <a:prstGeom prst="roundRect">
            <a:avLst>
              <a:gd name="adj" fmla="val 3273"/>
            </a:avLst>
          </a:prstGeom>
          <a:solidFill>
            <a:srgbClr val="1E1B1A"/>
          </a:solidFill>
          <a:ln w="12700">
            <a:solidFill>
              <a:srgbClr val="423D3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1306" y="3474720"/>
            <a:ext cx="502920" cy="502920"/>
          </a:xfrm>
          <a:prstGeom prst="ellipse">
            <a:avLst/>
          </a:prstGeom>
          <a:solidFill>
            <a:srgbClr val="232C1A"/>
          </a:solidFill>
          <a:ln w="12700">
            <a:solidFill>
              <a:srgbClr val="C3EDA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1306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3ED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661306" y="4114800"/>
            <a:ext cx="28690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Saved, then scattered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661306" y="4590288"/>
            <a:ext cx="28690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2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links we save to “learn later” rot in bookmarks — one by one, never consolidated, never revisited.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88757" y="3200400"/>
            <a:ext cx="3454298" cy="2514600"/>
          </a:xfrm>
          <a:prstGeom prst="roundRect">
            <a:avLst>
              <a:gd name="adj" fmla="val 3273"/>
            </a:avLst>
          </a:prstGeom>
          <a:solidFill>
            <a:srgbClr val="1E1B1A"/>
          </a:solidFill>
          <a:ln w="12700">
            <a:solidFill>
              <a:srgbClr val="423D3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81365" y="3474720"/>
            <a:ext cx="502920" cy="502920"/>
          </a:xfrm>
          <a:prstGeom prst="ellipse">
            <a:avLst/>
          </a:prstGeom>
          <a:solidFill>
            <a:srgbClr val="232C1A"/>
          </a:solidFill>
          <a:ln w="12700">
            <a:solidFill>
              <a:srgbClr val="C3EDA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81365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3ED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481365" y="4114800"/>
            <a:ext cx="28690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way to test yourself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481365" y="4590288"/>
            <a:ext cx="28690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2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learning needs active recall. Videos and articles give you no feedback on what actually stuck.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enters LearnIT — </a:t>
            </a:r>
            <a:pPr algn="l" indent="0" marL="0">
              <a:buNone/>
            </a:pPr>
            <a:r>
              <a:rPr lang="en-US" sz="1500" dirty="0">
                <a:solidFill>
                  <a:srgbClr val="E7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turns anything you save into material you actually study and test.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40" kern="0" dirty="0">
                <a:solidFill>
                  <a:srgbClr val="746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985455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200" kern="0" dirty="0">
                <a:solidFill>
                  <a:srgbClr val="A29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SOLUTION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985455" y="713232"/>
            <a:ext cx="3657600" cy="0"/>
          </a:xfrm>
          <a:prstGeom prst="line">
            <a:avLst/>
          </a:prstGeom>
          <a:noFill/>
          <a:ln w="9525">
            <a:solidFill>
              <a:srgbClr val="423D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C3ED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40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algn="l" indent="0" marL="0">
              <a:lnSpc>
                <a:spcPts val="4620"/>
              </a:lnSpc>
              <a:buNone/>
            </a:pPr>
            <a:r>
              <a:rPr lang="en-US" sz="4400" b="1" i="1" dirty="0">
                <a:solidFill>
                  <a:srgbClr val="C3ED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</a:t>
            </a:r>
            <a:pPr algn="l" indent="0" marL="0">
              <a:lnSpc>
                <a:spcPts val="4620"/>
              </a:lnSpc>
              <a:buNone/>
            </a:pPr>
            <a:r>
              <a:rPr lang="en-US" sz="440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unit of study.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5176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E7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LearnIT captures a link in seconds, then does the slow work in the background: it reads the source, files it under a durable topic, and builds materials for that topic — consolidating every source you save about a subject into one current set that rebuilds as you add more.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406640" y="2651760"/>
            <a:ext cx="4236415" cy="914400"/>
          </a:xfrm>
          <a:prstGeom prst="roundRect">
            <a:avLst>
              <a:gd name="adj" fmla="val 9000"/>
            </a:avLst>
          </a:prstGeom>
          <a:solidFill>
            <a:srgbClr val="262322"/>
          </a:solidFill>
          <a:ln w="12700">
            <a:solidFill>
              <a:srgbClr val="423D3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35240" y="2852928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232C1A"/>
          </a:solidFill>
          <a:ln w="12700">
            <a:solidFill>
              <a:srgbClr val="C3EDA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35240" y="2852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3E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8163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Guide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31363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2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full coverage of the topic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06640" y="3703320"/>
            <a:ext cx="4236415" cy="914400"/>
          </a:xfrm>
          <a:prstGeom prst="roundRect">
            <a:avLst>
              <a:gd name="adj" fmla="val 9000"/>
            </a:avLst>
          </a:prstGeom>
          <a:solidFill>
            <a:srgbClr val="262322"/>
          </a:solidFill>
          <a:ln w="12700">
            <a:solidFill>
              <a:srgbClr val="423D3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35240" y="3904488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232C1A"/>
          </a:solidFill>
          <a:ln w="12700">
            <a:solidFill>
              <a:srgbClr val="C3EDA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35240" y="3904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3E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8679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41879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2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tight summary for fast review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06640" y="4754880"/>
            <a:ext cx="4236415" cy="914400"/>
          </a:xfrm>
          <a:prstGeom prst="roundRect">
            <a:avLst>
              <a:gd name="adj" fmla="val 9000"/>
            </a:avLst>
          </a:prstGeom>
          <a:solidFill>
            <a:srgbClr val="262322"/>
          </a:solidFill>
          <a:ln w="12700">
            <a:solidFill>
              <a:srgbClr val="423D3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35240" y="4956048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232C1A"/>
          </a:solidFill>
          <a:ln w="12700">
            <a:solidFill>
              <a:srgbClr val="C3EDA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35240" y="4956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3E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49194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52395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2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questions to test recall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5943600"/>
            <a:ext cx="6309360" cy="0"/>
          </a:xfrm>
          <a:prstGeom prst="line">
            <a:avLst/>
          </a:prstGeom>
          <a:noFill/>
          <a:ln w="9525">
            <a:solidFill>
              <a:srgbClr val="423D3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608076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3ED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three networking videos → one Networking topic, not three orphan summaries. Old versions kept.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40" kern="0" dirty="0">
                <a:solidFill>
                  <a:srgbClr val="746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985455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200" kern="0" dirty="0">
                <a:solidFill>
                  <a:srgbClr val="A29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PIPELINE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985455" y="713232"/>
            <a:ext cx="3657600" cy="0"/>
          </a:xfrm>
          <a:prstGeom prst="line">
            <a:avLst/>
          </a:prstGeom>
          <a:noFill/>
          <a:ln w="9525">
            <a:solidFill>
              <a:srgbClr val="423D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C3ED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source travels </a:t>
            </a:r>
            <a:pPr algn="l" indent="0" marL="0">
              <a:lnSpc>
                <a:spcPts val="3570"/>
              </a:lnSpc>
              <a:buNone/>
            </a:pPr>
            <a:r>
              <a:rPr lang="en-US" sz="3400" b="1" i="1" dirty="0">
                <a:solidFill>
                  <a:srgbClr val="C3ED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road</a:t>
            </a:r>
            <a:pPr algn="l"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2014057" cy="2331720"/>
          </a:xfrm>
          <a:prstGeom prst="roundRect">
            <a:avLst>
              <a:gd name="adj" fmla="val 4086"/>
            </a:avLst>
          </a:prstGeom>
          <a:solidFill>
            <a:srgbClr val="1E1B1A"/>
          </a:solidFill>
          <a:ln w="12700">
            <a:solidFill>
              <a:srgbClr val="423D3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3127248"/>
            <a:ext cx="16482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A8CD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520440"/>
            <a:ext cx="16117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977640"/>
            <a:ext cx="161172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2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or send a link. Queued instantly.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544409" y="2926080"/>
            <a:ext cx="274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23D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818729" y="2926080"/>
            <a:ext cx="2014057" cy="2331720"/>
          </a:xfrm>
          <a:prstGeom prst="roundRect">
            <a:avLst>
              <a:gd name="adj" fmla="val 4086"/>
            </a:avLst>
          </a:prstGeom>
          <a:solidFill>
            <a:srgbClr val="1E1B1A"/>
          </a:solidFill>
          <a:ln w="12700">
            <a:solidFill>
              <a:srgbClr val="423D3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19897" y="3127248"/>
            <a:ext cx="16482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A8CD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019897" y="3520440"/>
            <a:ext cx="16117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019897" y="3977640"/>
            <a:ext cx="161172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2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(Supadata) or article text (Firecrawl).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814499" y="2926080"/>
            <a:ext cx="274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23D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088819" y="2926080"/>
            <a:ext cx="2014057" cy="2331720"/>
          </a:xfrm>
          <a:prstGeom prst="roundRect">
            <a:avLst>
              <a:gd name="adj" fmla="val 4086"/>
            </a:avLst>
          </a:prstGeom>
          <a:solidFill>
            <a:srgbClr val="1E1B1A"/>
          </a:solidFill>
          <a:ln w="12700">
            <a:solidFill>
              <a:srgbClr val="423D3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89987" y="3127248"/>
            <a:ext cx="16482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C3ED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289987" y="3520440"/>
            <a:ext cx="16117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289987" y="3977640"/>
            <a:ext cx="161172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2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files it under a durable topic.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084588" y="2926080"/>
            <a:ext cx="274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23D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358908" y="2926080"/>
            <a:ext cx="2014057" cy="2331720"/>
          </a:xfrm>
          <a:prstGeom prst="roundRect">
            <a:avLst>
              <a:gd name="adj" fmla="val 4086"/>
            </a:avLst>
          </a:prstGeom>
          <a:solidFill>
            <a:srgbClr val="1E1B1A"/>
          </a:solidFill>
          <a:ln w="12700">
            <a:solidFill>
              <a:srgbClr val="423D3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60076" y="3127248"/>
            <a:ext cx="16482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C3ED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560076" y="3520440"/>
            <a:ext cx="16117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560076" y="3977640"/>
            <a:ext cx="161172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2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Guide, Briefing &amp; Quiz rebuilt for the topic.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354678" y="2926080"/>
            <a:ext cx="274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23D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9628998" y="2926080"/>
            <a:ext cx="2014057" cy="2331720"/>
          </a:xfrm>
          <a:prstGeom prst="roundRect">
            <a:avLst>
              <a:gd name="adj" fmla="val 4086"/>
            </a:avLst>
          </a:prstGeom>
          <a:solidFill>
            <a:srgbClr val="1E1B1A"/>
          </a:solidFill>
          <a:ln w="12700">
            <a:solidFill>
              <a:srgbClr val="423D3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830166" y="3127248"/>
            <a:ext cx="16482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A9E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830166" y="3520440"/>
            <a:ext cx="16117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830166" y="3977640"/>
            <a:ext cx="161172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2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in the app + daily Telegram digest.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5623560"/>
            <a:ext cx="11094415" cy="914400"/>
          </a:xfrm>
          <a:prstGeom prst="roundRect">
            <a:avLst>
              <a:gd name="adj" fmla="val 9000"/>
            </a:avLst>
          </a:prstGeom>
          <a:solidFill>
            <a:srgbClr val="262322"/>
          </a:solidFill>
          <a:ln w="12700">
            <a:solidFill>
              <a:srgbClr val="423D3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2960" y="562356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E7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is instant; generation runs on a Postgres job queue woken every minute — </a:t>
            </a:r>
            <a:pPr algn="l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C3E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it keeps working with the browser closed.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40" kern="0" dirty="0">
                <a:solidFill>
                  <a:srgbClr val="746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985455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200" kern="0" dirty="0">
                <a:solidFill>
                  <a:srgbClr val="A29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FEATURES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985455" y="713232"/>
            <a:ext cx="3657600" cy="0"/>
          </a:xfrm>
          <a:prstGeom prst="line">
            <a:avLst/>
          </a:prstGeom>
          <a:noFill/>
          <a:ln w="9525">
            <a:solidFill>
              <a:srgbClr val="423D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C3ED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FEATURES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5364328" cy="1097280"/>
          </a:xfrm>
          <a:prstGeom prst="roundRect">
            <a:avLst>
              <a:gd name="adj" fmla="val 7500"/>
            </a:avLst>
          </a:prstGeom>
          <a:solidFill>
            <a:srgbClr val="1E1B1A"/>
          </a:solidFill>
          <a:ln w="12700">
            <a:solidFill>
              <a:srgbClr val="423D3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2990088"/>
            <a:ext cx="502920" cy="502920"/>
          </a:xfrm>
          <a:prstGeom prst="ellipse">
            <a:avLst/>
          </a:prstGeom>
          <a:solidFill>
            <a:srgbClr val="232C1A"/>
          </a:solidFill>
          <a:ln w="12700">
            <a:solidFill>
              <a:srgbClr val="C3EDA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2990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3ED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880360"/>
            <a:ext cx="417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3 ways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22783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2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app, Telegram bot, or auto-captured YouTube playlist — pick whatever's fastest.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78728" y="2697480"/>
            <a:ext cx="5364328" cy="1097280"/>
          </a:xfrm>
          <a:prstGeom prst="roundRect">
            <a:avLst>
              <a:gd name="adj" fmla="val 7500"/>
            </a:avLst>
          </a:prstGeom>
          <a:solidFill>
            <a:srgbClr val="1E1B1A"/>
          </a:solidFill>
          <a:ln w="12700">
            <a:solidFill>
              <a:srgbClr val="423D3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4760" y="2990088"/>
            <a:ext cx="502920" cy="502920"/>
          </a:xfrm>
          <a:prstGeom prst="ellipse">
            <a:avLst/>
          </a:prstGeom>
          <a:solidFill>
            <a:srgbClr val="232C1A"/>
          </a:solidFill>
          <a:ln w="12700">
            <a:solidFill>
              <a:srgbClr val="C3EDA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4760" y="2990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3ED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238848" y="2880360"/>
            <a:ext cx="417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Topic-level materials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7238848" y="322783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2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Guide, Briefing &amp; Quiz per topic, rebuilt atomically as new sources arrive. History kept.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5364328" cy="1097280"/>
          </a:xfrm>
          <a:prstGeom prst="roundRect">
            <a:avLst>
              <a:gd name="adj" fmla="val 7500"/>
            </a:avLst>
          </a:prstGeom>
          <a:solidFill>
            <a:srgbClr val="1E1B1A"/>
          </a:solidFill>
          <a:ln w="12700">
            <a:solidFill>
              <a:srgbClr val="423D3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4224528"/>
            <a:ext cx="502920" cy="502920"/>
          </a:xfrm>
          <a:prstGeom prst="ellipse">
            <a:avLst/>
          </a:prstGeom>
          <a:solidFill>
            <a:srgbClr val="232C1A"/>
          </a:solidFill>
          <a:ln w="12700">
            <a:solidFill>
              <a:srgbClr val="C3EDA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4224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3ED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4114800"/>
            <a:ext cx="417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legible pipeline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446227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2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source shows its live stage. Failures name the broken step and retry from exactly there.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8728" y="3931920"/>
            <a:ext cx="5364328" cy="1097280"/>
          </a:xfrm>
          <a:prstGeom prst="roundRect">
            <a:avLst>
              <a:gd name="adj" fmla="val 7500"/>
            </a:avLst>
          </a:prstGeom>
          <a:solidFill>
            <a:srgbClr val="1E1B1A"/>
          </a:solidFill>
          <a:ln w="12700">
            <a:solidFill>
              <a:srgbClr val="423D3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34760" y="4224528"/>
            <a:ext cx="502920" cy="502920"/>
          </a:xfrm>
          <a:prstGeom prst="ellipse">
            <a:avLst/>
          </a:prstGeom>
          <a:solidFill>
            <a:srgbClr val="232C1A"/>
          </a:solidFill>
          <a:ln w="12700">
            <a:solidFill>
              <a:srgbClr val="C3EDA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34760" y="4224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3ED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238848" y="4114800"/>
            <a:ext cx="417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Telegram digest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7238848" y="446227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2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work delivered once a day, at your own local hour.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166360"/>
            <a:ext cx="5364328" cy="1097280"/>
          </a:xfrm>
          <a:prstGeom prst="roundRect">
            <a:avLst>
              <a:gd name="adj" fmla="val 7500"/>
            </a:avLst>
          </a:prstGeom>
          <a:solidFill>
            <a:srgbClr val="1E1B1A"/>
          </a:solidFill>
          <a:ln w="12700">
            <a:solidFill>
              <a:srgbClr val="423D3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" y="5458968"/>
            <a:ext cx="502920" cy="502920"/>
          </a:xfrm>
          <a:prstGeom prst="ellipse">
            <a:avLst/>
          </a:prstGeom>
          <a:solidFill>
            <a:srgbClr val="232C1A"/>
          </a:solidFill>
          <a:ln w="12700">
            <a:solidFill>
              <a:srgbClr val="C3EDA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4672" y="5458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3ED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508760" y="5349240"/>
            <a:ext cx="417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by construction</a:t>
            </a:r>
            <a:endParaRPr lang="en-US" sz="1550" dirty="0"/>
          </a:p>
        </p:txBody>
      </p:sp>
      <p:sp>
        <p:nvSpPr>
          <p:cNvPr id="31" name="Text 29"/>
          <p:cNvSpPr txBox="1"/>
          <p:nvPr/>
        </p:nvSpPr>
        <p:spPr>
          <a:xfrm>
            <a:off x="1508760" y="569671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2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isolation enforced by Postgres row-level security — in the database, not the UI.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40" kern="0" dirty="0">
                <a:solidFill>
                  <a:srgbClr val="746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985455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200" kern="0" dirty="0">
                <a:solidFill>
                  <a:srgbClr val="A29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PRODUCT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985455" y="713232"/>
            <a:ext cx="3657600" cy="0"/>
          </a:xfrm>
          <a:prstGeom prst="line">
            <a:avLst/>
          </a:prstGeom>
          <a:noFill/>
          <a:ln w="9525">
            <a:solidFill>
              <a:srgbClr val="423D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C3ED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 IT LIVE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link to a lesson you can </a:t>
            </a:r>
            <a:pPr algn="l" indent="0" marL="0">
              <a:lnSpc>
                <a:spcPts val="3570"/>
              </a:lnSpc>
              <a:buNone/>
            </a:pPr>
            <a:r>
              <a:rPr lang="en-US" sz="3400" b="1" i="1" dirty="0">
                <a:solidFill>
                  <a:srgbClr val="C3ED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</a:t>
            </a:r>
            <a:pPr algn="l"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6858000" cy="3566160"/>
          </a:xfrm>
          <a:prstGeom prst="roundRect">
            <a:avLst>
              <a:gd name="adj" fmla="val 2308"/>
            </a:avLst>
          </a:prstGeom>
          <a:solidFill>
            <a:srgbClr val="1E1B1A"/>
          </a:solidFill>
          <a:ln w="12700">
            <a:solidFill>
              <a:srgbClr val="423D3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154680"/>
            <a:ext cx="6858000" cy="0"/>
          </a:xfrm>
          <a:prstGeom prst="line">
            <a:avLst/>
          </a:prstGeom>
          <a:noFill/>
          <a:ln w="9525">
            <a:solidFill>
              <a:srgbClr val="423D3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2816352"/>
            <a:ext cx="146304" cy="146304"/>
          </a:xfrm>
          <a:prstGeom prst="ellipse">
            <a:avLst/>
          </a:prstGeom>
          <a:solidFill>
            <a:srgbClr val="F0A093"/>
          </a:solidFill>
          <a:ln/>
        </p:spPr>
      </p:sp>
      <p:sp>
        <p:nvSpPr>
          <p:cNvPr id="10" name="Shape 8"/>
          <p:cNvSpPr/>
          <p:nvPr/>
        </p:nvSpPr>
        <p:spPr>
          <a:xfrm>
            <a:off x="1060704" y="2816352"/>
            <a:ext cx="146304" cy="146304"/>
          </a:xfrm>
          <a:prstGeom prst="ellipse">
            <a:avLst/>
          </a:prstGeom>
          <a:solidFill>
            <a:srgbClr val="F0D36A"/>
          </a:solidFill>
          <a:ln/>
        </p:spPr>
      </p:sp>
      <p:sp>
        <p:nvSpPr>
          <p:cNvPr id="11" name="Shape 9"/>
          <p:cNvSpPr/>
          <p:nvPr/>
        </p:nvSpPr>
        <p:spPr>
          <a:xfrm>
            <a:off x="1316736" y="2816352"/>
            <a:ext cx="146304" cy="146304"/>
          </a:xfrm>
          <a:prstGeom prst="ellipse">
            <a:avLst/>
          </a:prstGeom>
          <a:solidFill>
            <a:srgbClr val="A9E5B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737360" y="2852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60" kern="0" dirty="0">
                <a:solidFill>
                  <a:srgbClr val="A29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LEARNIT-MAUVE.VERCEL.APP / TOPICS / NETWORKING-CONCEPTS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68680" y="3383280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232C1A"/>
          </a:solidFill>
          <a:ln w="12700">
            <a:solidFill>
              <a:srgbClr val="C3EDA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383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3E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23160" y="3383280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262322"/>
          </a:solidFill>
          <a:ln w="12700">
            <a:solidFill>
              <a:srgbClr val="423D3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423160" y="3383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29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977640" y="3383280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262322"/>
          </a:solidFill>
          <a:ln w="12700">
            <a:solidFill>
              <a:srgbClr val="423D3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77640" y="3383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29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8680" y="4069080"/>
            <a:ext cx="5596128" cy="0"/>
          </a:xfrm>
          <a:prstGeom prst="line">
            <a:avLst/>
          </a:prstGeom>
          <a:noFill/>
          <a:ln w="25400">
            <a:solidFill>
              <a:srgbClr val="E7E2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526280"/>
            <a:ext cx="4663440" cy="0"/>
          </a:xfrm>
          <a:prstGeom prst="line">
            <a:avLst/>
          </a:prstGeom>
          <a:noFill/>
          <a:ln w="19050">
            <a:solidFill>
              <a:srgbClr val="423D3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983480"/>
            <a:ext cx="5285232" cy="0"/>
          </a:xfrm>
          <a:prstGeom prst="line">
            <a:avLst/>
          </a:prstGeom>
          <a:noFill/>
          <a:ln w="19050">
            <a:solidFill>
              <a:srgbClr val="423D3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5440680"/>
            <a:ext cx="3730752" cy="0"/>
          </a:xfrm>
          <a:prstGeom prst="line">
            <a:avLst/>
          </a:prstGeom>
          <a:noFill/>
          <a:ln w="19050">
            <a:solidFill>
              <a:srgbClr val="423D3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57150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746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Networking Concepts  ·  Bug Bounty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2697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A29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THE DEMO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72400" y="3063240"/>
            <a:ext cx="384048" cy="384048"/>
          </a:xfrm>
          <a:prstGeom prst="ellipse">
            <a:avLst/>
          </a:prstGeom>
          <a:solidFill>
            <a:srgbClr val="232C1A"/>
          </a:solidFill>
          <a:ln w="12700">
            <a:solidFill>
              <a:srgbClr val="C3EDA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3ED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30175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a link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275320" y="33101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2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queued instantly — status: fetching.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0" y="3566160"/>
            <a:ext cx="384048" cy="384048"/>
          </a:xfrm>
          <a:prstGeom prst="ellipse">
            <a:avLst/>
          </a:prstGeom>
          <a:solidFill>
            <a:srgbClr val="232C1A"/>
          </a:solidFill>
          <a:ln w="12700">
            <a:solidFill>
              <a:srgbClr val="C3EDA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3ED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275320" y="35204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Library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38130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2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→ Fetched → Sorting → Done, live.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772400" y="4069080"/>
            <a:ext cx="384048" cy="384048"/>
          </a:xfrm>
          <a:prstGeom prst="ellipse">
            <a:avLst/>
          </a:prstGeom>
          <a:solidFill>
            <a:srgbClr val="232C1A"/>
          </a:solidFill>
          <a:ln w="12700">
            <a:solidFill>
              <a:srgbClr val="C3EDA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3ED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275320" y="40233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 topic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8275320" y="43159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2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Guide, Briefing, and an interactive Quiz.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772400" y="4572000"/>
            <a:ext cx="384048" cy="384048"/>
          </a:xfrm>
          <a:prstGeom prst="ellipse">
            <a:avLst/>
          </a:prstGeom>
          <a:solidFill>
            <a:srgbClr val="232C1A"/>
          </a:solidFill>
          <a:ln w="12700">
            <a:solidFill>
              <a:srgbClr val="C3EDA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772400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3ED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75320" y="45262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via Telegram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8275320" y="48188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2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replies, then digests it back to you.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0177272" y="5148072"/>
            <a:ext cx="1453896" cy="1453896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</p:spPr>
      </p:sp>
      <p:pic>
        <p:nvPicPr>
          <p:cNvPr id="42" name="Image 0" descr="/tmp/claude-0/-home-claude/cae48e73-1371-52af-ade0-d49b214bf70b/scratchpad/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257800"/>
            <a:ext cx="1234440" cy="1234440"/>
          </a:xfrm>
          <a:prstGeom prst="rect">
            <a:avLst/>
          </a:prstGeom>
        </p:spPr>
      </p:pic>
      <p:sp>
        <p:nvSpPr>
          <p:cNvPr id="43" name="Text 40"/>
          <p:cNvSpPr txBox="1"/>
          <p:nvPr/>
        </p:nvSpPr>
        <p:spPr>
          <a:xfrm>
            <a:off x="7863840" y="5486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C3ED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TO TRY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7863840" y="5806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2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live on your phone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40" kern="0" dirty="0">
                <a:solidFill>
                  <a:srgbClr val="746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985455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200" kern="0" dirty="0">
                <a:solidFill>
                  <a:srgbClr val="A29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USER FLOW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985455" y="713232"/>
            <a:ext cx="3657600" cy="0"/>
          </a:xfrm>
          <a:prstGeom prst="line">
            <a:avLst/>
          </a:prstGeom>
          <a:noFill/>
          <a:ln w="9525">
            <a:solidFill>
              <a:srgbClr val="423D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C3ED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FLOW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journey, </a:t>
            </a:r>
            <a:pPr algn="l" indent="0" marL="0">
              <a:lnSpc>
                <a:spcPts val="3780"/>
              </a:lnSpc>
              <a:buNone/>
            </a:pPr>
            <a:r>
              <a:rPr lang="en-US" sz="3600" b="1" i="1" dirty="0">
                <a:solidFill>
                  <a:srgbClr val="C3ED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to end</a:t>
            </a:r>
            <a:pPr algn="l" indent="0" marL="0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232C1A"/>
          </a:solidFill>
          <a:ln w="12700">
            <a:solidFill>
              <a:srgbClr val="C3EDA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3ED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0100" y="3246120"/>
            <a:ext cx="0" cy="210312"/>
          </a:xfrm>
          <a:prstGeom prst="line">
            <a:avLst/>
          </a:prstGeom>
          <a:noFill/>
          <a:ln w="15875">
            <a:solidFill>
              <a:srgbClr val="423D3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2743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743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2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auth. Everything you save is private to you.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456432"/>
            <a:ext cx="502920" cy="502920"/>
          </a:xfrm>
          <a:prstGeom prst="ellipse">
            <a:avLst/>
          </a:prstGeom>
          <a:solidFill>
            <a:srgbClr val="232C1A"/>
          </a:solidFill>
          <a:ln w="12700">
            <a:solidFill>
              <a:srgbClr val="C3EDA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456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3ED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0100" y="3959352"/>
            <a:ext cx="0" cy="210312"/>
          </a:xfrm>
          <a:prstGeom prst="line">
            <a:avLst/>
          </a:prstGeom>
          <a:noFill/>
          <a:ln w="15875">
            <a:solidFill>
              <a:srgbClr val="423D3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71600" y="34564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34564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2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link on the dashboard, or send one to the bot.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169664"/>
            <a:ext cx="502920" cy="502920"/>
          </a:xfrm>
          <a:prstGeom prst="ellipse">
            <a:avLst/>
          </a:prstGeom>
          <a:solidFill>
            <a:srgbClr val="232C1A"/>
          </a:solidFill>
          <a:ln w="12700">
            <a:solidFill>
              <a:srgbClr val="C3EDA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169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3ED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0100" y="4672584"/>
            <a:ext cx="0" cy="210312"/>
          </a:xfrm>
          <a:prstGeom prst="line">
            <a:avLst/>
          </a:prstGeom>
          <a:noFill/>
          <a:ln w="15875">
            <a:solidFill>
              <a:srgbClr val="423D3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71600" y="416966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it process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41696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2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Library shows every source's live stage.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4882896"/>
            <a:ext cx="502920" cy="502920"/>
          </a:xfrm>
          <a:prstGeom prst="ellipse">
            <a:avLst/>
          </a:prstGeom>
          <a:solidFill>
            <a:srgbClr val="232C1A"/>
          </a:solidFill>
          <a:ln w="12700">
            <a:solidFill>
              <a:srgbClr val="C3EDA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4882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3ED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0100" y="5385816"/>
            <a:ext cx="0" cy="210312"/>
          </a:xfrm>
          <a:prstGeom prst="line">
            <a:avLst/>
          </a:prstGeom>
          <a:noFill/>
          <a:ln w="15875">
            <a:solidFill>
              <a:srgbClr val="423D3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371600" y="488289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by topic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4754880" y="488289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2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topic → Guide → Briefing → Quiz.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48640" y="5596128"/>
            <a:ext cx="502920" cy="502920"/>
          </a:xfrm>
          <a:prstGeom prst="ellipse">
            <a:avLst/>
          </a:prstGeom>
          <a:solidFill>
            <a:srgbClr val="232C1A"/>
          </a:solidFill>
          <a:ln w="12700">
            <a:solidFill>
              <a:srgbClr val="C3EDA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5596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3ED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371600" y="55961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 &amp; automate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4754880" y="55961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2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failures; set a daily digest or a playlist.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40" kern="0" dirty="0">
                <a:solidFill>
                  <a:srgbClr val="746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985455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200" kern="0" dirty="0">
                <a:solidFill>
                  <a:srgbClr val="A29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ARCHITECTURE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985455" y="713232"/>
            <a:ext cx="3657600" cy="0"/>
          </a:xfrm>
          <a:prstGeom prst="line">
            <a:avLst/>
          </a:prstGeom>
          <a:noFill/>
          <a:ln w="9525">
            <a:solidFill>
              <a:srgbClr val="423D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C3ED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capture. </a:t>
            </a:r>
            <a:pPr algn="l" indent="0" marL="0">
              <a:lnSpc>
                <a:spcPts val="3360"/>
              </a:lnSpc>
              <a:buNone/>
            </a:pPr>
            <a:r>
              <a:rPr lang="en-US" sz="3200" b="1" i="1" dirty="0">
                <a:solidFill>
                  <a:srgbClr val="C3ED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Durable</a:t>
            </a:r>
            <a:pPr algn="l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background work.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2743200" cy="1325880"/>
          </a:xfrm>
          <a:prstGeom prst="roundRect">
            <a:avLst>
              <a:gd name="adj" fmla="val 6207"/>
            </a:avLst>
          </a:prstGeom>
          <a:solidFill>
            <a:srgbClr val="1E1B1A"/>
          </a:solidFill>
          <a:ln w="12700">
            <a:solidFill>
              <a:srgbClr val="423D3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862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60" kern="0" dirty="0">
                <a:solidFill>
                  <a:srgbClr val="A8CD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CAPTURE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15468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7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· Telegram bot · YouTube playlist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11880" y="2697480"/>
            <a:ext cx="2743200" cy="1325880"/>
          </a:xfrm>
          <a:prstGeom prst="roundRect">
            <a:avLst>
              <a:gd name="adj" fmla="val 6207"/>
            </a:avLst>
          </a:prstGeom>
          <a:solidFill>
            <a:srgbClr val="1E1B1A"/>
          </a:solidFill>
          <a:ln w="12700">
            <a:solidFill>
              <a:srgbClr val="423D3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13048" y="2862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60" kern="0" dirty="0">
                <a:solidFill>
                  <a:srgbClr val="FFF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POSTGRES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813048" y="315468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7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learning_items + learning_jobs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7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job queue = source of truth)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75120" y="2697480"/>
            <a:ext cx="2743200" cy="1325880"/>
          </a:xfrm>
          <a:prstGeom prst="roundRect">
            <a:avLst>
              <a:gd name="adj" fmla="val 6207"/>
            </a:avLst>
          </a:prstGeom>
          <a:solidFill>
            <a:srgbClr val="1E1B1A"/>
          </a:solidFill>
          <a:ln w="12700">
            <a:solidFill>
              <a:srgbClr val="423D3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76288" y="2862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60" kern="0" dirty="0">
                <a:solidFill>
                  <a:srgbClr val="C3ED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WORKER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876288" y="3154680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7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process-learning-jobs Edge Function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7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woken by pg_cron every minute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738360" y="2697480"/>
            <a:ext cx="1904695" cy="1325880"/>
          </a:xfrm>
          <a:prstGeom prst="roundRect">
            <a:avLst>
              <a:gd name="adj" fmla="val 6207"/>
            </a:avLst>
          </a:prstGeom>
          <a:solidFill>
            <a:srgbClr val="1E1B1A"/>
          </a:solidFill>
          <a:ln w="12700">
            <a:solidFill>
              <a:srgbClr val="423D3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939528" y="2862072"/>
            <a:ext cx="1538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60" kern="0" dirty="0">
                <a:solidFill>
                  <a:srgbClr val="C9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· AI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9939528" y="3154680"/>
            <a:ext cx="15023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7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Supadata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7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Firecrawl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7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2697480"/>
            <a:ext cx="274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23D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2697480"/>
            <a:ext cx="274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23D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555480" y="2697480"/>
            <a:ext cx="274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23D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4343400"/>
            <a:ext cx="3454298" cy="1965960"/>
          </a:xfrm>
          <a:prstGeom prst="roundRect">
            <a:avLst>
              <a:gd name="adj" fmla="val 4186"/>
            </a:avLst>
          </a:prstGeom>
          <a:solidFill>
            <a:srgbClr val="262322"/>
          </a:solidFill>
          <a:ln w="12700">
            <a:solidFill>
              <a:srgbClr val="423D3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" y="4572000"/>
            <a:ext cx="146304" cy="146304"/>
          </a:xfrm>
          <a:prstGeom prst="ellipse">
            <a:avLst/>
          </a:prstGeom>
          <a:solidFill>
            <a:srgbClr val="C3EDA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51560" y="4480560"/>
            <a:ext cx="2722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key in the browser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804672" y="4937760"/>
            <a:ext cx="294223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2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app reads &amp; writes only through row-level security as the signed-in user.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68698" y="4343400"/>
            <a:ext cx="3454298" cy="1965960"/>
          </a:xfrm>
          <a:prstGeom prst="roundRect">
            <a:avLst>
              <a:gd name="adj" fmla="val 4186"/>
            </a:avLst>
          </a:prstGeom>
          <a:solidFill>
            <a:srgbClr val="262322"/>
          </a:solidFill>
          <a:ln w="12700">
            <a:solidFill>
              <a:srgbClr val="423D3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24730" y="4572000"/>
            <a:ext cx="146304" cy="146304"/>
          </a:xfrm>
          <a:prstGeom prst="ellipse">
            <a:avLst/>
          </a:prstGeom>
          <a:solidFill>
            <a:srgbClr val="C3EDA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871618" y="4480560"/>
            <a:ext cx="2722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 closed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4624730" y="4937760"/>
            <a:ext cx="294223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2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worker rejects any call without its Vault-held secret — absent = denied, never open.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88757" y="4343400"/>
            <a:ext cx="3454298" cy="1965960"/>
          </a:xfrm>
          <a:prstGeom prst="roundRect">
            <a:avLst>
              <a:gd name="adj" fmla="val 4186"/>
            </a:avLst>
          </a:prstGeom>
          <a:solidFill>
            <a:srgbClr val="262322"/>
          </a:solidFill>
          <a:ln w="12700">
            <a:solidFill>
              <a:srgbClr val="423D3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44789" y="4572000"/>
            <a:ext cx="146304" cy="146304"/>
          </a:xfrm>
          <a:prstGeom prst="ellipse">
            <a:avLst/>
          </a:prstGeom>
          <a:solidFill>
            <a:srgbClr val="C3EDA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691677" y="4480560"/>
            <a:ext cx="2722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everywhere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444789" y="4937760"/>
            <a:ext cx="294223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2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capture, batch, retry, source &amp; AI-input limits keep the free tier safe.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40" kern="0" dirty="0">
                <a:solidFill>
                  <a:srgbClr val="746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985455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200" kern="0" dirty="0">
                <a:solidFill>
                  <a:srgbClr val="A29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STACK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985455" y="713232"/>
            <a:ext cx="3657600" cy="0"/>
          </a:xfrm>
          <a:prstGeom prst="line">
            <a:avLst/>
          </a:prstGeom>
          <a:noFill/>
          <a:ln w="9525">
            <a:solidFill>
              <a:srgbClr val="423D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C3ED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 STACK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</a:t>
            </a:r>
            <a:pPr algn="l" indent="0" marL="0">
              <a:lnSpc>
                <a:spcPts val="3360"/>
              </a:lnSpc>
              <a:buNone/>
            </a:pPr>
            <a:r>
              <a:rPr lang="en-US" sz="3200" b="1" i="1" dirty="0">
                <a:solidFill>
                  <a:srgbClr val="C3ED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</a:t>
            </a:r>
            <a:pPr algn="l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infrastructure.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2533574" cy="3200400"/>
          </a:xfrm>
          <a:prstGeom prst="roundRect">
            <a:avLst>
              <a:gd name="adj" fmla="val 3248"/>
            </a:avLst>
          </a:prstGeom>
          <a:solidFill>
            <a:srgbClr val="1E1B1A"/>
          </a:solidFill>
          <a:ln w="12700">
            <a:solidFill>
              <a:srgbClr val="423D3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2971800"/>
            <a:ext cx="21678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C3ED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68096" y="3310128"/>
            <a:ext cx="2094662" cy="0"/>
          </a:xfrm>
          <a:prstGeom prst="line">
            <a:avLst/>
          </a:prstGeom>
          <a:noFill/>
          <a:ln w="9525">
            <a:solidFill>
              <a:srgbClr val="423D3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8096" y="3474720"/>
            <a:ext cx="209466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E7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(App Router)</a:t>
            </a:r>
            <a:endParaRPr lang="en-US" sz="125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E7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25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E7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</a:t>
            </a:r>
            <a:endParaRPr lang="en-US" sz="125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E7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02254" y="2743200"/>
            <a:ext cx="2533574" cy="3200400"/>
          </a:xfrm>
          <a:prstGeom prst="roundRect">
            <a:avLst>
              <a:gd name="adj" fmla="val 3248"/>
            </a:avLst>
          </a:prstGeom>
          <a:solidFill>
            <a:srgbClr val="1E1B1A"/>
          </a:solidFill>
          <a:ln w="12700">
            <a:solidFill>
              <a:srgbClr val="423D3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21710" y="2971800"/>
            <a:ext cx="21678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C3ED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 &amp; DATA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21710" y="3310128"/>
            <a:ext cx="2094662" cy="0"/>
          </a:xfrm>
          <a:prstGeom prst="line">
            <a:avLst/>
          </a:prstGeom>
          <a:noFill/>
          <a:ln w="9525">
            <a:solidFill>
              <a:srgbClr val="423D3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21710" y="3474720"/>
            <a:ext cx="209466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E7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</a:t>
            </a:r>
            <a:endParaRPr lang="en-US" sz="125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E7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</a:t>
            </a:r>
            <a:endParaRPr lang="en-US" sz="125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E7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Functions (Deno)</a:t>
            </a:r>
            <a:endParaRPr lang="en-US" sz="125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E7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pg_cron + pg_net + Vault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55868" y="2743200"/>
            <a:ext cx="2533574" cy="3200400"/>
          </a:xfrm>
          <a:prstGeom prst="roundRect">
            <a:avLst>
              <a:gd name="adj" fmla="val 3248"/>
            </a:avLst>
          </a:prstGeom>
          <a:solidFill>
            <a:srgbClr val="1E1B1A"/>
          </a:solidFill>
          <a:ln w="12700">
            <a:solidFill>
              <a:srgbClr val="423D3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75324" y="2971800"/>
            <a:ext cx="21678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C3ED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&amp; SOURCES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75324" y="3310128"/>
            <a:ext cx="2094662" cy="0"/>
          </a:xfrm>
          <a:prstGeom prst="line">
            <a:avLst/>
          </a:prstGeom>
          <a:noFill/>
          <a:ln w="9525">
            <a:solidFill>
              <a:srgbClr val="423D3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75324" y="3474720"/>
            <a:ext cx="209466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E7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125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E7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Supadata (transcripts)</a:t>
            </a:r>
            <a:endParaRPr lang="en-US" sz="125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E7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Firecrawl (articles)</a:t>
            </a:r>
            <a:endParaRPr lang="en-US" sz="125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E7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 API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09481" y="2743200"/>
            <a:ext cx="2533574" cy="3200400"/>
          </a:xfrm>
          <a:prstGeom prst="roundRect">
            <a:avLst>
              <a:gd name="adj" fmla="val 3248"/>
            </a:avLst>
          </a:prstGeom>
          <a:solidFill>
            <a:srgbClr val="1E1B1A"/>
          </a:solidFill>
          <a:ln w="12700">
            <a:solidFill>
              <a:srgbClr val="423D3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28937" y="2971800"/>
            <a:ext cx="21678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C3ED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HOSTING &amp; QA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328937" y="3310128"/>
            <a:ext cx="2094662" cy="0"/>
          </a:xfrm>
          <a:prstGeom prst="line">
            <a:avLst/>
          </a:prstGeom>
          <a:noFill/>
          <a:ln w="9525">
            <a:solidFill>
              <a:srgbClr val="423D3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28937" y="3474720"/>
            <a:ext cx="209466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E7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25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E7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unit tests (Vitest)</a:t>
            </a:r>
            <a:endParaRPr lang="en-US" sz="125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E7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DB assertions (pgTAP)</a:t>
            </a:r>
            <a:endParaRPr lang="en-US" sz="125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E7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on every push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40" kern="0" dirty="0">
                <a:solidFill>
                  <a:srgbClr val="746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985455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200" kern="0" dirty="0">
                <a:solidFill>
                  <a:srgbClr val="A29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RIGOR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985455" y="713232"/>
            <a:ext cx="3657600" cy="0"/>
          </a:xfrm>
          <a:prstGeom prst="line">
            <a:avLst/>
          </a:prstGeom>
          <a:noFill/>
          <a:ln w="9525">
            <a:solidFill>
              <a:srgbClr val="423D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C3ED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&amp; RIGOR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mockup — a </a:t>
            </a:r>
            <a:pPr algn="l" indent="0" marL="0">
              <a:lnSpc>
                <a:spcPts val="3360"/>
              </a:lnSpc>
              <a:buNone/>
            </a:pPr>
            <a:r>
              <a:rPr lang="en-US" sz="3200" b="1" i="1" dirty="0">
                <a:solidFill>
                  <a:srgbClr val="C3ED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</a:t>
            </a:r>
            <a:pPr algn="l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system.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2533574" cy="1828800"/>
          </a:xfrm>
          <a:prstGeom prst="roundRect">
            <a:avLst>
              <a:gd name="adj" fmla="val 4500"/>
            </a:avLst>
          </a:prstGeom>
          <a:solidFill>
            <a:srgbClr val="262322"/>
          </a:solidFill>
          <a:ln w="12700">
            <a:solidFill>
              <a:srgbClr val="423D3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880360"/>
            <a:ext cx="23506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3E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794760"/>
            <a:ext cx="21678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2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Vercel + Supabase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02254" y="2697480"/>
            <a:ext cx="2533574" cy="1828800"/>
          </a:xfrm>
          <a:prstGeom prst="roundRect">
            <a:avLst>
              <a:gd name="adj" fmla="val 4500"/>
            </a:avLst>
          </a:prstGeom>
          <a:solidFill>
            <a:srgbClr val="262322"/>
          </a:solidFill>
          <a:ln w="12700">
            <a:solidFill>
              <a:srgbClr val="423D3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93694" y="2880360"/>
            <a:ext cx="23506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3E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5200" dirty="0"/>
          </a:p>
        </p:txBody>
      </p:sp>
      <p:sp>
        <p:nvSpPr>
          <p:cNvPr id="12" name="Text 10"/>
          <p:cNvSpPr txBox="1"/>
          <p:nvPr/>
        </p:nvSpPr>
        <p:spPr>
          <a:xfrm>
            <a:off x="3585134" y="3794760"/>
            <a:ext cx="21678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2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passing (Vitest)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55868" y="2697480"/>
            <a:ext cx="2533574" cy="1828800"/>
          </a:xfrm>
          <a:prstGeom prst="roundRect">
            <a:avLst>
              <a:gd name="adj" fmla="val 4500"/>
            </a:avLst>
          </a:prstGeom>
          <a:solidFill>
            <a:srgbClr val="262322"/>
          </a:solidFill>
          <a:ln w="12700">
            <a:solidFill>
              <a:srgbClr val="423D3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47308" y="2880360"/>
            <a:ext cx="23506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3E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5200" dirty="0"/>
          </a:p>
        </p:txBody>
      </p:sp>
      <p:sp>
        <p:nvSpPr>
          <p:cNvPr id="15" name="Text 13"/>
          <p:cNvSpPr txBox="1"/>
          <p:nvPr/>
        </p:nvSpPr>
        <p:spPr>
          <a:xfrm>
            <a:off x="6438748" y="3794760"/>
            <a:ext cx="21678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2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assertions (pgTAP)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09481" y="2697480"/>
            <a:ext cx="2533574" cy="1828800"/>
          </a:xfrm>
          <a:prstGeom prst="roundRect">
            <a:avLst>
              <a:gd name="adj" fmla="val 4500"/>
            </a:avLst>
          </a:prstGeom>
          <a:solidFill>
            <a:srgbClr val="262322"/>
          </a:solidFill>
          <a:ln w="12700">
            <a:solidFill>
              <a:srgbClr val="423D3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00921" y="2880360"/>
            <a:ext cx="23506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3E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200" dirty="0"/>
          </a:p>
        </p:txBody>
      </p:sp>
      <p:sp>
        <p:nvSpPr>
          <p:cNvPr id="18" name="Text 16"/>
          <p:cNvSpPr txBox="1"/>
          <p:nvPr/>
        </p:nvSpPr>
        <p:spPr>
          <a:xfrm>
            <a:off x="9292361" y="3794760"/>
            <a:ext cx="21678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2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Service-role keys in the web app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800600"/>
            <a:ext cx="11094415" cy="1554480"/>
          </a:xfrm>
          <a:prstGeom prst="roundRect">
            <a:avLst>
              <a:gd name="adj" fmla="val 5294"/>
            </a:avLst>
          </a:prstGeom>
          <a:solidFill>
            <a:srgbClr val="1E1B1A"/>
          </a:solidFill>
          <a:ln w="12700">
            <a:solidFill>
              <a:srgbClr val="423D3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983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60" kern="0" dirty="0">
                <a:solidFill>
                  <a:srgbClr val="746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What's next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3492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E7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polish pass  ·  </a:t>
            </a:r>
            <a:pPr algn="l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E7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quiz formats  ·  </a:t>
            </a:r>
            <a:pPr algn="l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E7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sharing between learners  ·  </a:t>
            </a:r>
            <a:pPr algn="l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E7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source types beyond video &amp; articles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40" kern="0" dirty="0">
                <a:solidFill>
                  <a:srgbClr val="746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985455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200" kern="0" dirty="0">
                <a:solidFill>
                  <a:srgbClr val="A29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WHY IT WINS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985455" y="713232"/>
            <a:ext cx="3657600" cy="0"/>
          </a:xfrm>
          <a:prstGeom prst="line">
            <a:avLst/>
          </a:prstGeom>
          <a:noFill/>
          <a:ln w="9525">
            <a:solidFill>
              <a:srgbClr val="423D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C3ED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Bookmarks store links. LearnIT builds </a:t>
            </a:r>
            <a:pPr algn="l" indent="0" marL="0">
              <a:lnSpc>
                <a:spcPts val="3150"/>
              </a:lnSpc>
              <a:buNone/>
            </a:pPr>
            <a:r>
              <a:rPr lang="en-US" sz="3000" b="1" i="1" dirty="0">
                <a:solidFill>
                  <a:srgbClr val="C3ED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</a:t>
            </a:r>
            <a:pPr algn="l"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5318608" cy="3291840"/>
          </a:xfrm>
          <a:prstGeom prst="roundRect">
            <a:avLst>
              <a:gd name="adj" fmla="val 2500"/>
            </a:avLst>
          </a:prstGeom>
          <a:solidFill>
            <a:srgbClr val="1E1B1A"/>
          </a:solidFill>
          <a:ln w="12700">
            <a:solidFill>
              <a:srgbClr val="423D3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926080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C3ED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THE LEARNER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3291840"/>
            <a:ext cx="4769968" cy="0"/>
          </a:xfrm>
          <a:prstGeom prst="line">
            <a:avLst/>
          </a:prstGeom>
          <a:noFill/>
          <a:ln w="9525">
            <a:solidFill>
              <a:srgbClr val="423D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3529584"/>
            <a:ext cx="118872" cy="118872"/>
          </a:xfrm>
          <a:prstGeom prst="ellipse">
            <a:avLst/>
          </a:prstGeom>
          <a:solidFill>
            <a:srgbClr val="C3EDA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3429000"/>
            <a:ext cx="449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7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Zero-effort capture — paste or forward, done.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1248" y="4096512"/>
            <a:ext cx="118872" cy="118872"/>
          </a:xfrm>
          <a:prstGeom prst="ellipse">
            <a:avLst/>
          </a:prstGeom>
          <a:solidFill>
            <a:srgbClr val="C3EDA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3995928"/>
            <a:ext cx="449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7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material, not a pile of links.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41248" y="4663440"/>
            <a:ext cx="118872" cy="118872"/>
          </a:xfrm>
          <a:prstGeom prst="ellipse">
            <a:avLst/>
          </a:prstGeom>
          <a:solidFill>
            <a:srgbClr val="C3EDA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97280" y="4562856"/>
            <a:ext cx="449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7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topic consolidates everything you save.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41248" y="5230368"/>
            <a:ext cx="118872" cy="118872"/>
          </a:xfrm>
          <a:prstGeom prst="ellipse">
            <a:avLst/>
          </a:prstGeom>
          <a:solidFill>
            <a:srgbClr val="C3EDA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97280" y="5129784"/>
            <a:ext cx="449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7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 with a quiz, not just re-reading.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24448" y="2697480"/>
            <a:ext cx="5318608" cy="3291840"/>
          </a:xfrm>
          <a:prstGeom prst="roundRect">
            <a:avLst>
              <a:gd name="adj" fmla="val 2500"/>
            </a:avLst>
          </a:prstGeom>
          <a:solidFill>
            <a:srgbClr val="262322"/>
          </a:solidFill>
          <a:ln w="12700">
            <a:solidFill>
              <a:srgbClr val="423D3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98768" y="2926080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C3ED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98768" y="3291840"/>
            <a:ext cx="4769968" cy="0"/>
          </a:xfrm>
          <a:prstGeom prst="line">
            <a:avLst/>
          </a:prstGeom>
          <a:noFill/>
          <a:ln w="9525">
            <a:solidFill>
              <a:srgbClr val="423D3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17056" y="3529584"/>
            <a:ext cx="118872" cy="118872"/>
          </a:xfrm>
          <a:prstGeom prst="ellipse">
            <a:avLst/>
          </a:prstGeom>
          <a:solidFill>
            <a:srgbClr val="C3EDA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73088" y="3429000"/>
            <a:ext cx="449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7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the browser closed.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17056" y="4096512"/>
            <a:ext cx="118872" cy="118872"/>
          </a:xfrm>
          <a:prstGeom prst="ellipse">
            <a:avLst/>
          </a:prstGeom>
          <a:solidFill>
            <a:srgbClr val="C3EDA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73088" y="3995928"/>
            <a:ext cx="449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7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stalls silently — every failure is recoverable.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17056" y="4663440"/>
            <a:ext cx="118872" cy="118872"/>
          </a:xfrm>
          <a:prstGeom prst="ellipse">
            <a:avLst/>
          </a:prstGeom>
          <a:solidFill>
            <a:srgbClr val="C3EDA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73088" y="4562856"/>
            <a:ext cx="449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7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by construction, enforced in the database.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17056" y="5230368"/>
            <a:ext cx="118872" cy="118872"/>
          </a:xfrm>
          <a:prstGeom prst="ellipse">
            <a:avLst/>
          </a:prstGeom>
          <a:solidFill>
            <a:srgbClr val="C3EDA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73088" y="5129784"/>
            <a:ext cx="449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7E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in the cloud — no laptop babysitting it.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A29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071055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220" kern="0" dirty="0">
                <a:solidFill>
                  <a:srgbClr val="A29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TEAMPURA · ABBA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7498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600"/>
              </a:lnSpc>
              <a:buNone/>
            </a:pPr>
            <a:r>
              <a:rPr lang="en-US" sz="720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a link.
</a:t>
            </a:r>
            <a:pPr algn="l" indent="0" marL="0">
              <a:lnSpc>
                <a:spcPts val="7600"/>
              </a:lnSpc>
              <a:buNone/>
            </a:pPr>
            <a:r>
              <a:rPr lang="en-US" sz="720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 </a:t>
            </a:r>
            <a:pPr algn="l" indent="0" marL="0">
              <a:lnSpc>
                <a:spcPts val="7600"/>
              </a:lnSpc>
              <a:buNone/>
            </a:pPr>
            <a:r>
              <a:rPr lang="en-US" sz="7200" b="1" i="1" dirty="0">
                <a:solidFill>
                  <a:srgbClr val="C3ED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</a:t>
            </a:r>
            <a:pPr algn="l" indent="0" marL="0">
              <a:lnSpc>
                <a:spcPts val="7600"/>
              </a:lnSpc>
              <a:buNone/>
            </a:pPr>
            <a:r>
              <a:rPr lang="en-US" sz="720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9720072" y="1673352"/>
            <a:ext cx="1956816" cy="1956816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/>
        </p:spPr>
      </p:sp>
      <p:pic>
        <p:nvPicPr>
          <p:cNvPr id="6" name="Image 0" descr="/tmp/claude-0/-home-claude/cae48e73-1371-52af-ade0-d49b214bf70b/scratchpad/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1783080"/>
            <a:ext cx="1737360" cy="17373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098280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40" kern="0" dirty="0">
                <a:solidFill>
                  <a:srgbClr val="C3ED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TO TRY IT LIVE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4754880"/>
            <a:ext cx="11094415" cy="0"/>
          </a:xfrm>
          <a:prstGeom prst="line">
            <a:avLst/>
          </a:prstGeom>
          <a:noFill/>
          <a:ln w="9525">
            <a:solidFill>
              <a:srgbClr val="423D3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4983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746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IT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257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3E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learnit-mauve.vercel.app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206240" y="4983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746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TELEGRAM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206240" y="5257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@learnit_teampura_bot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4983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746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PRESENTERS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7863840" y="5257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Iven Dioneda · Clyde Givero · Brylle Callo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A29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guide · briefing · quiz — organized by topic, not by link.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LearnIT Pitch Deck</dc:title>
  <dc:subject>PptxGenJS Presentation</dc:subject>
  <dc:creator>LearnIT</dc:creator>
  <cp:lastModifiedBy>LearnIT</cp:lastModifiedBy>
  <cp:revision>1</cp:revision>
  <dcterms:created xsi:type="dcterms:W3CDTF">2026-09-03T19:37:36Z</dcterms:created>
  <dcterms:modified xsi:type="dcterms:W3CDTF">2026-09-03T19:37:36Z</dcterms:modified>
</cp:coreProperties>
</file>